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2700000">
            <a:off x="9144000" y="-914400"/>
            <a:ext cx="3657600" cy="3657600"/>
          </a:xfrm>
          <a:prstGeom prst="ellipse">
            <a:avLst/>
          </a:prstGeom>
          <a:solidFill>
            <a:srgbClr val="347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2743200" cy="2743200"/>
          </a:xfrm>
          <a:prstGeom prst="ellipse">
            <a:avLst/>
          </a:prstGeom>
          <a:solidFill>
            <a:srgbClr val="347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EaseUS VoiceWave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D6F0"/>
                </a:solidFill>
              </a:defRPr>
            </a:pPr>
            <a:r>
              <a:t>PC端 UI 自动化测试框架项目概览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931920"/>
            <a:ext cx="3047695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FB4"/>
                </a:solidFill>
              </a:defRPr>
            </a:pPr>
            <a:r>
              <a:t>项目简介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●  目标应用：EaseUS VoiceWave — Windows桌面端音频变声软件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●  技术方案：Python + uiautomation + pytest + Allure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●  架构模式：三层 POM（Page Object Model）页面对象模型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●  总代码量：约 10,000+ 行 Python 代码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●  覆盖模块：7大功能模块（实时变声、文件变声、音效板、社区、声音创建、设置、登录）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●  测试语言：支持 12 种语言（英语、法语、德语、意大利语、韩语、葡萄牙语、日语、繁中、简中、西班牙语、土耳其语、阿拉伯语）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74C3C"/>
                </a:solidFill>
              </a:defRPr>
            </a:pPr>
            <a:r>
              <a:t>核心技术栈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8640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UI 自动化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uiautomation 2.0.29 - Windows UI自动化核心库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pyautogui 0.9.54 - 鼠标键盘模拟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pyperclip 1.8.2 - 剪贴板操作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280160"/>
            <a:ext cx="548640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39" y="1417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图像识别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39" y="17830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opencv-python 4.12.0.88 - OpenCV图像处理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numpy 2.2.6 - 数值计算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Pillow 11.1.0 - 图像处理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79"/>
            <a:ext cx="548640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测试框架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399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pytest 9.0.2 - 测试框架核心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pytest-dependency 0.6.1 - 用例依赖管理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pytest-html 4.2.0 - HTML报告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allure-pytest 2.14.0 - Allure测试报告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840479"/>
            <a:ext cx="548640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39776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B59B6"/>
                </a:solidFill>
              </a:defRPr>
            </a:pPr>
            <a:r>
              <a:t>系统工具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4343399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WMI 1.5.1 - Windows管理接口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psutil 7.2.1 - 进程管理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selenium 4.41.0 - 浏览器自动化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▸ paramiko 3.5.1 - SSH远程操作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931920"/>
            <a:ext cx="3047695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B59B6"/>
                </a:solidFill>
              </a:defRPr>
            </a:pPr>
            <a:r>
              <a:t>三层 POM 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144000" cy="1463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测试层 Test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EEE"/>
                </a:solidFill>
              </a:defRPr>
            </a:pPr>
            <a:r>
              <a:t>testcase/ 目录 - pytest测试用例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173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16个测试文件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覆盖7大功能模块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Allure报告集成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Fixture环境管理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9144000" cy="1463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POM 层 Page Object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37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EEE"/>
                </a:solidFill>
              </a:defRPr>
            </a:pPr>
            <a:r>
              <a:t>pom/ 目录 - 页面对象封装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0632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12个Page类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控件链式定位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图像识别定位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业务方法封装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572000"/>
            <a:ext cx="9144000" cy="1463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663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基础层 Base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983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EEE"/>
                </a:solidFill>
              </a:defRPr>
            </a:pPr>
            <a:r>
              <a:t>bases/ 目录 - UI操作封装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7091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BasePage基类 (949行)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ScreenElement图像识别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SlowMouseController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▸ Windows API调用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669280" y="2788920"/>
            <a:ext cx="548640" cy="274320"/>
          </a:xfrm>
          <a:prstGeom prst="downArrow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669280" y="4434840"/>
            <a:ext cx="548640" cy="274320"/>
          </a:xfrm>
          <a:prstGeom prst="downArrow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A085"/>
                </a:solidFill>
              </a:defRPr>
            </a:pPr>
            <a:r>
              <a:t>代码规模统计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~10,000+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总代码行数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EEEEE"/>
                </a:solidFill>
              </a:defRPr>
            </a:pPr>
            <a:r>
              <a:t>Python代码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544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12个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POM页面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EEEEE"/>
                </a:solidFill>
              </a:defRPr>
            </a:pPr>
            <a:r>
              <a:t>Page类封装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16个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测试文件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EEEEE"/>
                </a:solidFill>
              </a:defRPr>
            </a:pPr>
            <a:r>
              <a:t>pytest测试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544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17个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工具模块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560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EEEEE"/>
                </a:solidFill>
              </a:defRPr>
            </a:pPr>
            <a:r>
              <a:t>commons/utils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bases/basePage.py                                 949行  →  核心基类，封装所有UI操作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commons/utils/configmanager.py                   1080行  →  配置管理，INI文件操作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bases/captureScreen.py                            363行  →  图像识别与元素定位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pom/voicewave_home_page.py                        590行  →  首页/实时变声页面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pom/voicewave_file_voicechanger_page.py           474行  →  文件变声页面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testcase/test_nav4_file_voice_changer.py          543行  →  文件变声测试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testcase/test_nav5_voice_creation.py              424行  →  声音创建测试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testcase/test_language.py                         416行  →  多语言测试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框架核心特性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73152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98DB"/>
                </a:solidFill>
              </a:defRPr>
            </a:pPr>
            <a:r>
              <a:t>双模式元素定位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控件链式定位 + OpenCV图像识别，适应不同场景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325880"/>
            <a:ext cx="73152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39" y="12801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74C3C"/>
                </a:solidFill>
              </a:defRPr>
            </a:pPr>
            <a:r>
              <a:t>拟人化操作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39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平滑鼠标移动、缓慢点击，模拟真实用户行为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73152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CC71"/>
                </a:solidFill>
              </a:defRPr>
            </a:pPr>
            <a:r>
              <a:t>多语言支持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支持12种语言测试：英/法/德/意/韩/葡/日/繁中/简中/西/土/阿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560320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2514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67E22"/>
                </a:solidFill>
              </a:defRPr>
            </a:pPr>
            <a:r>
              <a:t>用户环境隔离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2834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新用户/老用户/未激活用户环境，通过Fixture独立管理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59"/>
            <a:ext cx="73152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9B59B6"/>
                </a:solidFill>
              </a:defRPr>
            </a:pPr>
            <a:r>
              <a:t>Allure报告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自动生成可视化测试报告，支持截图附件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794759"/>
            <a:ext cx="73152" cy="8229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39" y="3749039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A085"/>
                </a:solidFill>
              </a:defRPr>
            </a:pPr>
            <a:r>
              <a:t>滚动查找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40690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支持上下滚动查找控件和图像元素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73152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98DB"/>
                </a:solidFill>
              </a:defRPr>
            </a:pPr>
            <a:r>
              <a:t>文件管理器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封装文件选择、路径输入、文件打开等操作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5029200"/>
            <a:ext cx="73152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4983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74C3C"/>
                </a:solidFill>
              </a:defRPr>
            </a:pPr>
            <a:r>
              <a:t>异常处理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5303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element_raise / control_raise 统一异常策略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页面与用例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931920"/>
            <a:ext cx="3047695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7E22"/>
                </a:solidFill>
              </a:defRPr>
            </a:pPr>
            <a:r>
              <a:t>POM 页面覆盖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voicewave_home_page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首页 / 实时变声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6420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590行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核心功能页面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716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voicewave_file_voicechanger_page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6420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文件变声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66420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474行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659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音频文件处理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voicewave_setting_page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6420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设置页面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66420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269行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程序配置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6032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517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voicewave_discount_alert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9443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弹窗处理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9443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250行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2461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启动弹窗/折扣弹窗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56032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6517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voicewave_soundboard_page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9443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音效板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443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167行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2461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Soundboard功能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56032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6517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voicewave_voice_creation_page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9443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声音创建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29443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168行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2461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Voice Creation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840479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931919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voicewave_community_page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22452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社区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224527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173行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526279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Community Library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79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3931919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voicewave_language_page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22452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语言设置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224527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155行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526279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多语言切换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3840479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3931919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voicewave_closeprogram_page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22452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关闭程序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4224527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126行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526279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退出逻辑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12064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2120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voicewave_login_page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550468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登录页面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550468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123行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8064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用户登录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512064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52120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voicewave_active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34840" y="550468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激活管理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550468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38行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40" y="58064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激活状态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60" y="5120640"/>
            <a:ext cx="3657600" cy="114300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52120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voicewave_voice_page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550468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7E22"/>
                </a:solidFill>
              </a:defRPr>
            </a:pPr>
            <a:r>
              <a:t>声音页面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8480" y="550468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9595"/>
                </a:solidFill>
              </a:defRPr>
            </a:pPr>
            <a:r>
              <a:t>20行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58064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Voice基础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6A085"/>
                </a:solidFill>
              </a:defRPr>
            </a:pPr>
            <a:r>
              <a:t>测试用例覆盖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5922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测试文件</a:t>
                      </a:r>
                    </a:p>
                  </a:txBody>
                  <a:tcPr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代码行</a:t>
                      </a:r>
                    </a:p>
                  </a:txBody>
                  <a:tcPr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测试内容</a:t>
                      </a:r>
                    </a:p>
                  </a:txBody>
                  <a:tcPr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6A08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test_nav4_file_voice_changer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543行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文件变声功能测试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74C3C"/>
                          </a:solidFill>
                        </a:defRPr>
                      </a:pPr>
                      <a:r>
                        <a:t>核心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test_nav5_voice_creation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424行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声音创建功能测试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74C3C"/>
                          </a:solidFill>
                        </a:defRPr>
                      </a:pPr>
                      <a:r>
                        <a:t>核心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416行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多语言UI测试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7E22"/>
                          </a:solidFill>
                        </a:defRPr>
                      </a:pPr>
                      <a:r>
                        <a:t>重要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test_nav3_community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285行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社区功能测试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74C3C"/>
                          </a:solidFill>
                        </a:defRPr>
                      </a:pPr>
                      <a:r>
                        <a:t>核心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256行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窗口标题测试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A085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test_nav2_soundboard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243行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音效板功能测试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74C3C"/>
                          </a:solidFill>
                        </a:defRPr>
                      </a:pPr>
                      <a:r>
                        <a:t>核心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test_about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145行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关于页面测试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A085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test_login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177行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登录功能测试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7E22"/>
                          </a:solidFill>
                        </a:defRPr>
                      </a:pPr>
                      <a:r>
                        <a:t>重要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127行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通用测试方法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A085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test_left_navigation_bar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115行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左侧导航栏测试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A085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test_inactive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115行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未激活用户测试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67E22"/>
                          </a:solidFill>
                        </a:defRPr>
                      </a:pPr>
                      <a:r>
                        <a:t>重要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test_olduser_start_alert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63行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老用户启动弹窗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A085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onsolas"/>
                        </a:defRPr>
                      </a:pPr>
                      <a:r>
                        <a:t>test_newuser_start_alert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59595"/>
                          </a:solidFill>
                        </a:defRPr>
                      </a:pPr>
                      <a:r>
                        <a:t>56行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新用户启动弹窗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A085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B59B6"/>
                </a:solidFill>
              </a:defRPr>
            </a:pPr>
            <a:r>
              <a:t>Fixture 环境管理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82296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07592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active_window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已激活用户环境  |  Setup: SHOW_EXIT_WINDOW=false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307592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newuser_language_window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未激活新用户 + 语言切换  |  Setup: delete_voice_wave_ini()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75688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167128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488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48840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olduser_language_window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41448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未激活老用户 + 语言切换  |  Setup: modify_time() + delete_start_time()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75688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2167128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148840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creation_language_window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41448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声音创建多语言环境  |  Setup: 6种语言参数化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16936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008376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990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299008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login_window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282696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登录测试环境  |  Setup: delete_voice_wave_ini()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916936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3008376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990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99008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active_window_function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282696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已激活用户(含清理)  |  Setup: 完整前后置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758184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849624"/>
            <a:ext cx="82296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83133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module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831336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123944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标准窗口(含清理)  |  Setup: delete_voice_wave_ini()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758184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09360" y="3849624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83133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831336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bottom_window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123944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底部退出测试环境  |  Setup: 测试退出流程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99432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4690872"/>
            <a:ext cx="822960" cy="228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67258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4672584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main_window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96519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新用户完整环境  |  Setup: 含弹窗关闭 + 进程清理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599432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09360" y="4690872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67258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4672584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old_main_window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96519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老用户完整环境  |  Setup: modify_time()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440680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5532120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51383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5513832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new_main_window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8064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新用户环境  |  Setup: delete_voice_wave_ini()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5440680"/>
            <a:ext cx="5486400" cy="749808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09360" y="5532120"/>
            <a:ext cx="82296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551383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5513832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  <a:latin typeface="Consolas"/>
              </a:defRPr>
            </a:pPr>
            <a:r>
              <a:t>Inactive_main_window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58064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77777"/>
                </a:solidFill>
              </a:defRPr>
            </a:pPr>
            <a:r>
              <a:t>未激活环境  |  Setup: 清除激活文件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执行与报告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931920"/>
            <a:ext cx="3047695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测试执行流程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18872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环境准备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77777"/>
                </a:solidFill>
              </a:defRPr>
            </a:pPr>
            <a:r>
              <a:t>ConfigManager设置INI配置</a:t>
            </a:r>
            <a:br/>
            <a:r>
              <a:t>删除/修改配置文件</a:t>
            </a:r>
            <a:br/>
            <a:r>
              <a:t>注册表切换语言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1417320"/>
            <a:ext cx="320040" cy="18288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66160" y="118872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234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启动应用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77777"/>
                </a:solidFill>
              </a:defRPr>
            </a:pPr>
            <a:r>
              <a:t>subprocess.Popen启动程序</a:t>
            </a:r>
            <a:br/>
            <a:r>
              <a:t>等待主窗口出现(最多120秒)</a:t>
            </a:r>
            <a:br/>
            <a:r>
              <a:t>获取WindowControl对象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37760" y="1417320"/>
            <a:ext cx="320040" cy="18288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20" y="118872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234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执行测试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77777"/>
                </a:solidFill>
              </a:defRPr>
            </a:pPr>
            <a:r>
              <a:t>POM页面对象调用业务方法</a:t>
            </a:r>
            <a:br/>
            <a:r>
              <a:t>控件定位 / 图像识别</a:t>
            </a:r>
            <a:br/>
            <a:r>
              <a:t>断言验证结果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32320" y="1417320"/>
            <a:ext cx="320040" cy="18288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79" y="118872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1234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截图报告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77777"/>
                </a:solidFill>
              </a:defRPr>
            </a:pPr>
            <a:r>
              <a:t>Allure截图附加到报告</a:t>
            </a:r>
            <a:br/>
            <a:r>
              <a:t>日志记录到文件</a:t>
            </a:r>
            <a:br/>
            <a:r>
              <a:t>生成allure-results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26879" y="1417320"/>
            <a:ext cx="320040" cy="18288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9840" y="118872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234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环境清理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77777"/>
                </a:solidFill>
              </a:defRPr>
            </a:pPr>
            <a:r>
              <a:t>关闭程序弹窗处理</a:t>
            </a:r>
            <a:br/>
            <a:r>
              <a:t>选择退出方式</a:t>
            </a:r>
            <a:br/>
            <a:r>
              <a:t>kill_process清理进程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常用命令：</a:t>
            </a:r>
          </a:p>
          <a:p>
            <a:pPr>
              <a:spcBef>
                <a:spcPts val="600"/>
              </a:spcBef>
              <a:defRPr sz="1300">
                <a:solidFill>
                  <a:srgbClr val="16A085"/>
                </a:solidFill>
                <a:latin typeface="Consolas"/>
              </a:defRPr>
            </a:pPr>
            <a:r>
              <a:t>  $ pytest -v -s -m test              # 运行所有标记为test的用例</a:t>
            </a:r>
          </a:p>
          <a:p>
            <a:pPr>
              <a:spcBef>
                <a:spcPts val="600"/>
              </a:spcBef>
              <a:defRPr sz="1300">
                <a:solidFill>
                  <a:srgbClr val="16A085"/>
                </a:solidFill>
                <a:latin typeface="Consolas"/>
              </a:defRPr>
            </a:pPr>
            <a:r>
              <a:t>  $ pytest -m "ui" -v               # 运行UI自动化测试</a:t>
            </a:r>
          </a:p>
          <a:p>
            <a:pPr>
              <a:spcBef>
                <a:spcPts val="600"/>
              </a:spcBef>
              <a:defRPr sz="1300">
                <a:solidFill>
                  <a:srgbClr val="16A085"/>
                </a:solidFill>
                <a:latin typeface="Consolas"/>
              </a:defRPr>
            </a:pPr>
            <a:r>
              <a:t>  $ pytest --alluredir=allure-results --clean-alluredir   # 生成Allure数据</a:t>
            </a:r>
          </a:p>
          <a:p>
            <a:pPr>
              <a:spcBef>
                <a:spcPts val="600"/>
              </a:spcBef>
              <a:defRPr sz="1300">
                <a:solidFill>
                  <a:srgbClr val="16A085"/>
                </a:solidFill>
                <a:latin typeface="Consolas"/>
              </a:defRPr>
            </a:pPr>
            <a:r>
              <a:t>  $ allure generate -o report -c allure-results           # 生成可视化报告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54880" y="1645920"/>
            <a:ext cx="2743200" cy="2743200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BBBBB"/>
                </a:solidFill>
              </a:defRPr>
            </a:pPr>
            <a:r>
              <a:t>EaseUS VoiceWave UI 自动化测试框架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